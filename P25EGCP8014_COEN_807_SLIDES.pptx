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SVM</c:v>
                </c:pt>
                <c:pt idx="4">
                  <c:v>KNN</c:v>
                </c:pt>
                <c:pt idx="5">
                  <c:v>GB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0.87309999999999999</c:v>
                </c:pt>
                <c:pt idx="1">
                  <c:v>0.85609999999999997</c:v>
                </c:pt>
                <c:pt idx="2">
                  <c:v>0.88600000000000001</c:v>
                </c:pt>
                <c:pt idx="3">
                  <c:v>0.8881</c:v>
                </c:pt>
                <c:pt idx="4">
                  <c:v>0.84889999999999999</c:v>
                </c:pt>
                <c:pt idx="5">
                  <c:v>0.90210000000000001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98-474E-A26A-886A3810E6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SVM</c:v>
                </c:pt>
                <c:pt idx="4">
                  <c:v>KNN</c:v>
                </c:pt>
                <c:pt idx="5">
                  <c:v>GB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0.85760000000000003</c:v>
                </c:pt>
                <c:pt idx="1">
                  <c:v>0.85880000000000001</c:v>
                </c:pt>
                <c:pt idx="2">
                  <c:v>0.88629999999999998</c:v>
                </c:pt>
                <c:pt idx="3">
                  <c:v>0.89029999999999998</c:v>
                </c:pt>
                <c:pt idx="4">
                  <c:v>0.83860000000000001</c:v>
                </c:pt>
                <c:pt idx="5">
                  <c:v>0.90280000000000005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98-474E-A26A-886A3810E6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SVM</c:v>
                </c:pt>
                <c:pt idx="4">
                  <c:v>KNN</c:v>
                </c:pt>
                <c:pt idx="5">
                  <c:v>GB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0.94010000000000005</c:v>
                </c:pt>
                <c:pt idx="1">
                  <c:v>0.87280000000000002</c:v>
                </c:pt>
                <c:pt idx="2">
                  <c:v>0.95989999999999998</c:v>
                </c:pt>
                <c:pt idx="3">
                  <c:v>0.9627</c:v>
                </c:pt>
                <c:pt idx="4">
                  <c:v>0.91310000000000002</c:v>
                </c:pt>
                <c:pt idx="5">
                  <c:v>0.97040000000000004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98-474E-A26A-886A3810E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MDI Importance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mean_tau (E)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response_ratio (E)</c:v>
                </c:pt>
                <c:pt idx="5">
                  <c:v>net_power (E)</c:v>
                </c:pt>
                <c:pt idx="6">
                  <c:v>total_demand (E)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4.9000000000000002E-2</c:v>
                </c:pt>
                <c:pt idx="1">
                  <c:v>5.2900000000000003E-2</c:v>
                </c:pt>
                <c:pt idx="2">
                  <c:v>5.6099999999999997E-2</c:v>
                </c:pt>
                <c:pt idx="3">
                  <c:v>6.0199999999999997E-2</c:v>
                </c:pt>
                <c:pt idx="4">
                  <c:v>8.4699999999999998E-2</c:v>
                </c:pt>
                <c:pt idx="5">
                  <c:v>0.1191</c:v>
                </c:pt>
                <c:pt idx="6">
                  <c:v>0.2903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BE-4381-985C-2AA0FA7190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24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applies machine learning to classify smart grid stability — stable vs unstable — using 12 electrical parameters. Highly relevant to Nigeria's chronic power infrastructure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a missed UNSTABLE prediction = potential cascading blackout. High recall on the Unstable class is the primary operational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Star-topology 4-node grid: 1 producer + 3 consumers. The 63/37 class imbalance is moderate — requires weighted metrics, not simple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was the #1 impact decision — 3 of the top 7 features by RF importance are engineered. total_demand alone = 29% of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spanning all major algorithm families: linear, tree, bagging, kernel, instance-based, boosting — comprehensive coverage of the bias-variance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these metrics: accuracy would be 63% for a trivial always-predict-Unstable classifier. Weighted F1 is the selector. AUC reveals probability calibration quality. CV std deviation reveals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GB wins on CV accuracy (0.9021) and AUC (0.9704). SVM is second. DT's low AUC (0.8728) vs acceptable accuracy shows why AUC matters. KNN suffers from high dimensionality.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103 false positives = unnecessary protective actions (safe but annoying). 97 false negatives = missed unstable grids (operational risk). 7.7% FNR is manageable with human-in-the-loop.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validates the entire feature engineering investment. The engineered features capture physics the raw features don't: total load stress, net power balance, and the elasticity÷speed interaction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points: (1) Non-linearity confirmed by SVM&gt;LR. (2) Accuracy≠AUC — the DT example. (3) Tuning had marginal effect; feature engineering was the bigger lever. (4) 90% + 97.2% AUC is deployable with human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safety message: the model must SUPPORT human decisions, never replace them. The 7.7% false negative rate is the primary operational risk. Equity in load-shedding is a social justice issue, not just a technical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GB achieves 90% accuracy + 97.17% AUC on 2,000 unseen instances. The next critical step is validation on real PMU data from the Nigerian national grid. All code and results are fully reproducible via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A3A5C">
              <a:alpha val="4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017520" cy="5143500"/>
          </a:xfrm>
          <a:prstGeom prst="rect">
            <a:avLst/>
          </a:prstGeom>
          <a:solidFill>
            <a:srgbClr val="2E86AB">
              <a:alpha val="4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0B4D8">
              <a:alpha val="4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Stability Classification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 Electrical Grids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0906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COEN807 Term Project  |  Supervised Learning  |  ABU Zaria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Supervised Learning - Binary Classification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Electrical Grid Stability Simulated Dataset (Arzamasov et al., 2018)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Models Compared  |  Best: Gradient Boosting Tuned  |  AUC = 0.9717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Grid Stability Prediction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937760" cy="35478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89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4572000" cy="2098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Nigeria's grid averages only 4,000–5,000 MW actual generation vs 13,000 MW installed capacity, with chronic outages on the 330 kV network (Akorede et al., 2017).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smart grids, price-responsive consumers create non-linear stability dynamics that conventional eigenvalue analysis cannot assess fast enough for real-time operation.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each grid configuration from 12 parameters: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E5E5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 (0)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Eigenvalues with +ve real parts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37947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8F8F5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3840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(1)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eigenvalues with −ve real parts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325880"/>
            <a:ext cx="1600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141732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77840" y="207568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1325880"/>
            <a:ext cx="1600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141732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315200" y="207568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770632"/>
            <a:ext cx="1600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2862072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12→18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77840" y="3520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2770632"/>
            <a:ext cx="1600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2862072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315200" y="3520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Grid Stability Simulated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D6EAF8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ML Repository (ID 471) &amp; Kaggle  |  </a:t>
            </a: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Ref: </a:t>
            </a: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Arzamasov et al. (2018) DOI: 10.24432/C5PP49  |  10,000 instances  |  ZERO missing values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210312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10312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tau1–tau4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1635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0.5–10.0 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each node to adjust power in response to a price signal. Shorter = faster response.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210312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10312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Values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542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(gen)  p2–p4 (load)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81635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p1: 0.5–2.0  |  p2–p4: −2.0– −0.5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0632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produced / consumed per node. Negative = drawing from network.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0116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0488" y="210312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10312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542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g1–g4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81635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0.05–1.00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30632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adjustment per unit price change. Higher g = stronger, faster demand response.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37083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FF3E0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63.0%  </a:t>
            </a: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 (0) - 6,300 instances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437083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E8F8F5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480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37.0%  </a:t>
            </a: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(1) - 3,700 instances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3977640" cy="3717036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 Quality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missing values · 0 duplicates · No outliers removed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791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Stratified Split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Train (8,000) · 20% Test (2,000)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ratio 63/37 preserved in both sets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8386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StandardScaler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73989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on train only → applied to both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data leakage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28853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 Encoding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54456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features already continuous numerical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261872"/>
            <a:ext cx="4343400" cy="3639312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38988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Engineered Features  (12 → 18 total)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84708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7AE60">
              <a:alpha val="12000"/>
            </a:srgbClr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8928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total_demand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90872" y="2121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p₂+p₃+p₄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0872" y="23408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consumer load  (#1 predictor)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184708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E86AB">
              <a:alpha val="12000"/>
            </a:srgbClr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18928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net_power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93992" y="2121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p₁+total_demand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93992" y="23408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surplus/deficit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80720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0B4D8">
              <a:alpha val="12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28529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mean_tau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90872" y="3081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mean(τ₁–τ₄)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0872" y="33009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network response speed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280720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9C12">
              <a:alpha val="12000"/>
            </a:srgbClr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93992" y="28529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tau_std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93992" y="3081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std(τ₁–τ₄)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93992" y="33009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 heterogeneity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7673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E86AB">
              <a:alpha val="12000"/>
            </a:srgbClr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38130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690872" y="4041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mean(g₁–g₄)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90872" y="42611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price elasticity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37673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27AE60">
              <a:alpha val="12000"/>
            </a:srgbClr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93992" y="38130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response_ratio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93992" y="4041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mean_g/(mean_τ+ε)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93992" y="42611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Elasticity÷speed ratio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Classifiers - Spanning the Bias-Variance Spectrum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46304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0574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baseline · Interpretable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· C=1.0 L2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4630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4356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0574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· Non-linear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 · depth=10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447153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218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09970" y="14630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7451" y="20299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Bagging ensemble · Feature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· n=100 trees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24612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8404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RBF kernel · High-dim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· C=1.0 γ=scale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99816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3246120"/>
            <a:ext cx="502920" cy="50292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63924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8404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Instance-based · No params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· k=5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7628" y="3090672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241548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2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29651" y="32415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57451" y="386791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 ensemble · Best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· n=100 lr=0.1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models: scikit-learn 1.3.0  |  random_state=42  |  StandardScaler preprocessing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 &amp; Metrics Justification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7548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Protocol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4434840" cy="1024128"/>
          </a:xfrm>
          <a:prstGeom prst="roundRect">
            <a:avLst>
              <a:gd name="adj" fmla="val 7143"/>
            </a:avLst>
          </a:prstGeom>
          <a:solidFill>
            <a:srgbClr val="D6EAF8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1 - Stratified 5-Fold CV (8,000 train instances)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fold preserves 63/37 class ratio · Reports mean ± std per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2926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86AB"/>
                </a:solidFill>
              </a:rPr>
              <a:t>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3218688"/>
            <a:ext cx="4434840" cy="1024128"/>
          </a:xfrm>
          <a:prstGeom prst="roundRect">
            <a:avLst>
              <a:gd name="adj" fmla="val 7143"/>
            </a:avLst>
          </a:prstGeom>
          <a:solidFill>
            <a:srgbClr val="E8F8F5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2 - Hold-out Test Set (2,000 UNSEEN instances)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 in training or tuning · Final unbiased performance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3708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GridSearchCV on best model: n_estimators, max_depth, learning_rate (cv=3, F1-weighted, 12 configs)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57800" y="1261872"/>
            <a:ext cx="3566160" cy="37033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Metrics?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40680" y="1920240"/>
            <a:ext cx="274320" cy="2743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847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33872" y="21031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only - 63% trivially by always predicting Unstable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2468880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3957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Precision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33872" y="26517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positive predictions weighted by class support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301752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29443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Recall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33872" y="3200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of true instances - critical for Unstable class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356616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34930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  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33872" y="37490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 - balances P &amp; R under class imbalance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411480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40416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33872" y="4221711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Threshold-independent discriminative ability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0680" y="4663440"/>
            <a:ext cx="274320" cy="27432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45902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33872" y="47548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TP/TN/FP/FN for best model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 - Test Set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261872"/>
          <a:ext cx="5577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261872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389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828800"/>
            <a:ext cx="914400" cy="347472"/>
          </a:xfrm>
          <a:prstGeom prst="rect">
            <a:avLst/>
          </a:prstGeom>
          <a:solidFill>
            <a:srgbClr val="2E86A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08192" y="188366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95160" y="1828800"/>
            <a:ext cx="914400" cy="347472"/>
          </a:xfrm>
          <a:prstGeom prst="rect">
            <a:avLst/>
          </a:prstGeom>
          <a:solidFill>
            <a:srgbClr val="2E86A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22592" y="188366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09560" y="1828800"/>
            <a:ext cx="914400" cy="347472"/>
          </a:xfrm>
          <a:prstGeom prst="rect">
            <a:avLst/>
          </a:prstGeom>
          <a:solidFill>
            <a:srgbClr val="2E86A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36992" y="188366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80760" y="2176272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08192" y="22311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95160" y="2176272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22592" y="22311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0.858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09560" y="2176272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36992" y="22311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0.940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80760" y="2523744"/>
            <a:ext cx="914400" cy="34747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8192" y="257860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995160" y="2523744"/>
            <a:ext cx="914400" cy="34747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22592" y="257860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0.859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09560" y="2523744"/>
            <a:ext cx="914400" cy="34747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36992" y="257860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0.873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80760" y="2871216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08192" y="292608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95160" y="2871216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22592" y="292608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0.886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909560" y="2871216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36992" y="292608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0.960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080760" y="3218688"/>
            <a:ext cx="914400" cy="34747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08192" y="327355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995160" y="3218688"/>
            <a:ext cx="914400" cy="34747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22592" y="327355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0.890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909560" y="3218688"/>
            <a:ext cx="914400" cy="34747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36992" y="327355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0.963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080760" y="3566160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08192" y="362102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995160" y="3566160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022592" y="362102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0.839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909560" y="3566160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36992" y="362102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0.913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080760" y="3913632"/>
            <a:ext cx="914400" cy="34747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08192" y="396849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995160" y="3913632"/>
            <a:ext cx="914400" cy="34747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022592" y="396849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0.903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7909560" y="3913632"/>
            <a:ext cx="914400" cy="34747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36992" y="396849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0.970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080760" y="4261104"/>
            <a:ext cx="914400" cy="347472"/>
          </a:xfrm>
          <a:prstGeom prst="rect">
            <a:avLst/>
          </a:prstGeom>
          <a:solidFill>
            <a:srgbClr val="E8F8F5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108192" y="431596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GB★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6995160" y="4261104"/>
            <a:ext cx="914400" cy="347472"/>
          </a:xfrm>
          <a:prstGeom prst="rect">
            <a:avLst/>
          </a:prstGeom>
          <a:solidFill>
            <a:srgbClr val="E8F8F5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22592" y="431596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0.900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7909560" y="4261104"/>
            <a:ext cx="914400" cy="347472"/>
          </a:xfrm>
          <a:prstGeom prst="rect">
            <a:avLst/>
          </a:prstGeom>
          <a:solidFill>
            <a:srgbClr val="E8F8F5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936992" y="431596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0.972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GB★ = Gradient Boosting after GridSearchCV tuning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Tuned ★ - Confusion Matrix &amp; Classification Report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594360"/>
          </a:xfrm>
          <a:prstGeom prst="roundRect">
            <a:avLst>
              <a:gd name="adj" fmla="val 18462"/>
            </a:avLst>
          </a:prstGeom>
          <a:solidFill>
            <a:srgbClr val="D6EAF8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Params:  </a:t>
            </a: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n_estimators=200  |  max_depth=5  |  learning_rate=0.10  |  GridSearchCV (3-fold, F1-weighted)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93392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Predicted: Unstable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514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Predicted: Stable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5292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56616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1560" y="2852928"/>
            <a:ext cx="1444752" cy="621792"/>
          </a:xfrm>
          <a:prstGeom prst="rect">
            <a:avLst/>
          </a:prstGeom>
          <a:solidFill>
            <a:srgbClr val="E8F8F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852928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= 1,157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78608" y="2852928"/>
            <a:ext cx="1371600" cy="621792"/>
          </a:xfrm>
          <a:prstGeom prst="rect">
            <a:avLst/>
          </a:prstGeom>
          <a:solidFill>
            <a:srgbClr val="FFE5E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28529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103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51560" y="3566160"/>
            <a:ext cx="1444752" cy="621792"/>
          </a:xfrm>
          <a:prstGeom prst="rect">
            <a:avLst/>
          </a:prstGeom>
          <a:solidFill>
            <a:srgbClr val="FFE5E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56616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97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578608" y="3566160"/>
            <a:ext cx="1371600" cy="621792"/>
          </a:xfrm>
          <a:prstGeom prst="rect">
            <a:avLst/>
          </a:prstGeom>
          <a:solidFill>
            <a:srgbClr val="E8F8F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35661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643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4297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N=2,000  |  Unstable support=1,260  |  Stable support=740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1993392"/>
            <a:ext cx="4389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Performance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80560" y="2514600"/>
            <a:ext cx="877824" cy="438912"/>
          </a:xfrm>
          <a:prstGeom prst="rect">
            <a:avLst/>
          </a:prstGeom>
          <a:solidFill>
            <a:srgbClr val="1A3A5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58384" y="2514600"/>
            <a:ext cx="877824" cy="438912"/>
          </a:xfrm>
          <a:prstGeom prst="rect">
            <a:avLst/>
          </a:prstGeom>
          <a:solidFill>
            <a:srgbClr val="1A3A5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85816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6208" y="2514600"/>
            <a:ext cx="877824" cy="438912"/>
          </a:xfrm>
          <a:prstGeom prst="rect">
            <a:avLst/>
          </a:prstGeom>
          <a:solidFill>
            <a:srgbClr val="1A3A5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14032" y="2514600"/>
            <a:ext cx="877824" cy="438912"/>
          </a:xfrm>
          <a:prstGeom prst="rect">
            <a:avLst/>
          </a:prstGeom>
          <a:solidFill>
            <a:srgbClr val="1A3A5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41464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91856" y="2514600"/>
            <a:ext cx="877824" cy="438912"/>
          </a:xfrm>
          <a:prstGeom prst="rect">
            <a:avLst/>
          </a:prstGeom>
          <a:solidFill>
            <a:srgbClr val="1A3A5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9288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80560" y="2953512"/>
            <a:ext cx="877824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 (0)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58384" y="2953512"/>
            <a:ext cx="877824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5816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0.9226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36208" y="2953512"/>
            <a:ext cx="877824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0.9183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14032" y="2953512"/>
            <a:ext cx="877824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41464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0.9204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991856" y="2953512"/>
            <a:ext cx="877824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9288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1,260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80560" y="3392424"/>
            <a:ext cx="877824" cy="43891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07992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(1)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358384" y="3392424"/>
            <a:ext cx="877824" cy="43891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85816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0.8619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36208" y="3392424"/>
            <a:ext cx="877824" cy="43891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0.8689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14032" y="3392424"/>
            <a:ext cx="877824" cy="43891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41464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0.8654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991856" y="3392424"/>
            <a:ext cx="877824" cy="438912"/>
          </a:xfrm>
          <a:prstGeom prst="rect">
            <a:avLst/>
          </a:prstGeom>
          <a:solidFill>
            <a:srgbClr val="F8FAFD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19288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740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480560" y="3831336"/>
            <a:ext cx="877824" cy="438912"/>
          </a:xfrm>
          <a:prstGeom prst="rect">
            <a:avLst/>
          </a:prstGeom>
          <a:solidFill>
            <a:srgbClr val="D6EAF8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07992" y="3913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Avg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358384" y="3831336"/>
            <a:ext cx="877824" cy="438912"/>
          </a:xfrm>
          <a:prstGeom prst="rect">
            <a:avLst/>
          </a:prstGeom>
          <a:solidFill>
            <a:srgbClr val="D6EAF8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85816" y="3913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0.9002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236208" y="3831336"/>
            <a:ext cx="877824" cy="438912"/>
          </a:xfrm>
          <a:prstGeom prst="rect">
            <a:avLst/>
          </a:prstGeom>
          <a:solidFill>
            <a:srgbClr val="D6EAF8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3640" y="3913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0.9000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114032" y="3831336"/>
            <a:ext cx="877824" cy="438912"/>
          </a:xfrm>
          <a:prstGeom prst="rect">
            <a:avLst/>
          </a:prstGeom>
          <a:solidFill>
            <a:srgbClr val="D6EAF8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41464" y="3913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0.9001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991856" y="3831336"/>
            <a:ext cx="877824" cy="438912"/>
          </a:xfrm>
          <a:prstGeom prst="rect">
            <a:avLst/>
          </a:prstGeom>
          <a:solidFill>
            <a:srgbClr val="D6EAF8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19288" y="3913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434840" y="4462272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FFF3CD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26280" y="45079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False Negative Rate = 97/1,260 = 7.70% - requires human verification layer before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What Drives Grid Stability?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586842110"/>
              </p:ext>
            </p:extLst>
          </p:nvPr>
        </p:nvGraphicFramePr>
        <p:xfrm>
          <a:off x="320040" y="1261872"/>
          <a:ext cx="5577840" cy="3648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417320"/>
            <a:ext cx="2743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36208" y="1563624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545336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Top 3 Are Engineered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6208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total_demand (29.0%) + net_power (11.9%) + response_ratio (8.5%) = 49.4% of RF importance combined.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2624328"/>
            <a:ext cx="2743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36208" y="2770632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2752344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Balance Dominates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3172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total_demand + net_power alone = 40.9%. Generation–demand balance is the primary physical stability driver.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80760" y="3831336"/>
            <a:ext cx="2743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36208" y="3977640"/>
            <a:ext cx="347472" cy="3474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395935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&gt; Tuning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36208" y="43799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outperformed GridSearchCV as the single highest-impact modelling decision.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= Engineered feature  |  MDI = Mean Decrease in Impurity (Random Forest)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Gradient Boosting Wins — Cross-Model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417320"/>
            <a:ext cx="2523744" cy="365760"/>
          </a:xfrm>
          <a:prstGeom prst="roundRect">
            <a:avLst>
              <a:gd name="adj" fmla="val 17500"/>
            </a:avLst>
          </a:prstGeom>
          <a:solidFill>
            <a:srgbClr val="2E86AB">
              <a:alpha val="8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356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&gt; RF  (AUC 0.970 vs 0.960)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Boosting's sequential residual correction beats bagging when the boundary has moderate non-linearity, each new tree focuses on the hardest-to-classify instances.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417320"/>
            <a:ext cx="2523744" cy="365760"/>
          </a:xfrm>
          <a:prstGeom prst="roundRect">
            <a:avLst>
              <a:gd name="adj" fmla="val 17500"/>
            </a:avLst>
          </a:prstGeom>
          <a:solidFill>
            <a:srgbClr val="00B4D8">
              <a:alpha val="8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356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&gt; LR  (AUC 0.963 vs 0.940)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892808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2.3-pt AUC gap confirms the stability boundary is non-linear. RBF kernel maps features to a separable manifold LR's linear boundary is insufficient.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81928" y="1435608"/>
            <a:ext cx="2523744" cy="365760"/>
          </a:xfrm>
          <a:prstGeom prst="roundRect">
            <a:avLst>
              <a:gd name="adj" fmla="val 17500"/>
            </a:avLst>
          </a:prstGeom>
          <a:solidFill>
            <a:srgbClr val="F39C12">
              <a:alpha val="88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4659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— Lowest AUC (0.873)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892808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86% accuracy, hard partition boundaries produce poor probability calibration. Proves that AUC and accuracy tell very different stories.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" y="3136392"/>
            <a:ext cx="2523744" cy="365760"/>
          </a:xfrm>
          <a:prstGeom prst="roundRect">
            <a:avLst>
              <a:gd name="adj" fmla="val 17500"/>
            </a:avLst>
          </a:prstGeom>
          <a:solidFill>
            <a:srgbClr val="C0392B">
              <a:alpha val="88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Dimensionality Penalty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18D scaled space, Euclidean distance loses discriminative power. Highest CV variance (σ=0.009) = sensitivity to training fold composition.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136392"/>
            <a:ext cx="2523744" cy="365760"/>
          </a:xfrm>
          <a:prstGeom prst="roundRect">
            <a:avLst>
              <a:gd name="adj" fmla="val 17500"/>
            </a:avLst>
          </a:prstGeom>
          <a:solidFill>
            <a:srgbClr val="27AE60">
              <a:alpha val="88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1546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— Marginal Gain (+0.13%)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61188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 was near-optimal at defaults. GridSearchCV confirmed depth=5 and n=200. Principal benefit: better leaf interaction capture vs. default depth=3.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118104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82575" y="3190471"/>
            <a:ext cx="2523744" cy="365760"/>
          </a:xfrm>
          <a:prstGeom prst="roundRect">
            <a:avLst>
              <a:gd name="adj" fmla="val 17500"/>
            </a:avLst>
          </a:prstGeom>
          <a:solidFill>
            <a:srgbClr val="2C3E50">
              <a:alpha val="88000"/>
            </a:srgbClr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208759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666351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accuracy + 97.2% AUC is viable for real-time SCADA screening in the Nigerian power grid — with mandatory human verification at the 7.7% FNR threshold.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LESSONS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Ethics &amp; Lessons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60520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86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not validated on real TCN SCADA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snapshots - no transient/dynamic stability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4-node star ≠ real 330kV mesh network complexity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uncertainty quantification point predictions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 is partially a black box - SHAP needed for deployment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61872"/>
            <a:ext cx="4160520" cy="2267712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3716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3886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autonomous actuation mandatory human override required at all times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Load-shedding equity prevent algorithmic bias against rural/low-income communities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bias simulation assumptions become encoded ground truth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675888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" y="3767328"/>
            <a:ext cx="2523744" cy="256032"/>
          </a:xfrm>
          <a:prstGeom prst="roundRect">
            <a:avLst>
              <a:gd name="adj" fmla="val 2142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76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Feature Engineering &gt; Tuning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9651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 provided larger performance gains than GridSearchCV domain knowledge is irreplaceable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3675888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55848" y="3767328"/>
            <a:ext cx="2523744" cy="256032"/>
          </a:xfrm>
          <a:prstGeom prst="roundRect">
            <a:avLst>
              <a:gd name="adj" fmla="val 21429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776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Metric Choice = Model Ranking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409651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 competes on accuracy but fails on AUC proves why primary metric must be defined before training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675888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81928" y="3767328"/>
            <a:ext cx="2523744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76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CV Std Reveals Stability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409651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σ=0.009 vs GB σ=0.005 invisible from a single 80/20 split stratified k-fold is non-negotiable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1A3A5C">
              <a:alpha val="38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143500"/>
          </a:xfrm>
          <a:prstGeom prst="rect">
            <a:avLst/>
          </a:prstGeom>
          <a:solidFill>
            <a:srgbClr val="2E86AB">
              <a:alpha val="3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9904" y="0"/>
            <a:ext cx="3054096" cy="5143500"/>
          </a:xfrm>
          <a:prstGeom prst="rect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645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Next Steps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8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5331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Best Test Accuracy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(GB Tuned)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1298448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8000"/>
            </a:srgbClr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35331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0.9717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18653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Best AUC Score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(GB Tuned)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298448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8000"/>
            </a:srgbClr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5331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18653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Importance from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95160" y="1298448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8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35331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95160" y="18653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False Negative 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(human check req.)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450592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A3A5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420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2907792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classifiers compared - Gradient Boosting wins on CV accuracy, test F1, and AUC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(12→18) was the single highest-impact decision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stability screening is viable for Nigerian SCADA with human oversight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450592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A3A5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420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2907792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/ Temporal CNNs for transient stability dynamics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 for real mesh grid topologies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 for NERC regulatory compliance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validation on real TCN PMU SCADA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B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incremental learning for evolving grid configurations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C8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Arzamasov et al. (2018) DOI: 10.24432/C5PP49  |  Code: github.com</a:t>
            </a:r>
            <a:r>
              <a:rPr lang="en-US" sz="1000" i="1">
                <a:solidFill>
                  <a:srgbClr val="6C8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/&lt;Phaena01&gt;/</a:t>
            </a:r>
            <a:r>
              <a:rPr lang="en-US" sz="1000" i="1" dirty="0">
                <a:solidFill>
                  <a:srgbClr val="6C8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grid-stability-ml  |  COEN807 · ABU Zaria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1905</Words>
  <Application>Microsoft Office PowerPoint</Application>
  <PresentationFormat>On-screen Show (16:9)</PresentationFormat>
  <Paragraphs>287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COEN801 – Grid Stability ML Project</dc:title>
  <dc:subject>PptxGenJS Presentation</dc:subject>
  <dc:creator>PptxGenJS</dc:creator>
  <cp:lastModifiedBy>Dilliri Alibeku</cp:lastModifiedBy>
  <cp:revision>8</cp:revision>
  <dcterms:created xsi:type="dcterms:W3CDTF">2026-06-20T09:59:16Z</dcterms:created>
  <dcterms:modified xsi:type="dcterms:W3CDTF">2026-06-22T03:38:47Z</dcterms:modified>
</cp:coreProperties>
</file>